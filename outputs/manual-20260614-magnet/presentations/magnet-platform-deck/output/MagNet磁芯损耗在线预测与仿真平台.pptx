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b6cfc04d274a26" /><Relationship Type="http://schemas.openxmlformats.org/officeDocument/2006/relationships/extended-properties" Target="/docProps/app.xml" Id="Rc1afb07f86e54db0" /><Relationship Type="http://schemas.openxmlformats.org/officeDocument/2006/relationships/officeDocument" Target="/ppt/presentation.xml" Id="R84bf572470a94d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d6b2a41f714019"/>
  </p:sldMasterIdLst>
  <p:notesMasterIdLst>
    <p:notesMasterId xmlns:r="http://schemas.openxmlformats.org/officeDocument/2006/relationships" r:id="R221c0bcdb0a649d7"/>
  </p:notesMasterIdLst>
  <p:sldIdLst>
    <p:sldId xmlns:r="http://schemas.openxmlformats.org/officeDocument/2006/relationships" id="256" r:id="R88d82155e54b481e"/>
    <p:sldId xmlns:r="http://schemas.openxmlformats.org/officeDocument/2006/relationships" id="257" r:id="R0f6b3efc65c24881"/>
    <p:sldId xmlns:r="http://schemas.openxmlformats.org/officeDocument/2006/relationships" id="258" r:id="R6c443b28bdf44ccf"/>
    <p:sldId xmlns:r="http://schemas.openxmlformats.org/officeDocument/2006/relationships" id="259" r:id="Rd564dc7e4a384ced"/>
    <p:sldId xmlns:r="http://schemas.openxmlformats.org/officeDocument/2006/relationships" id="260" r:id="R534a8c0b97bd4707"/>
    <p:sldId xmlns:r="http://schemas.openxmlformats.org/officeDocument/2006/relationships" id="261" r:id="R1a1e49be8c774af0"/>
    <p:sldId xmlns:r="http://schemas.openxmlformats.org/officeDocument/2006/relationships" id="262" r:id="R9cf30f1584fc41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59c907d2c54618" /><Relationship Type="http://schemas.openxmlformats.org/officeDocument/2006/relationships/slideMaster" Target="/ppt/slideMasters/slideMaster1.xml" Id="Rbfd6b2a41f714019" /><Relationship Type="http://schemas.openxmlformats.org/officeDocument/2006/relationships/notesMaster" Target="/ppt/notesMasters/notesMaster1.xml" Id="R221c0bcdb0a649d7" /><Relationship Type="http://schemas.openxmlformats.org/officeDocument/2006/relationships/presProps" Target="/ppt/presProps.xml" Id="Rfe23e33388d048d5" /><Relationship Type="http://schemas.openxmlformats.org/officeDocument/2006/relationships/viewProps" Target="/ppt/viewProps.xml" Id="R2af19d1bd9f84953" /><Relationship Type="http://schemas.openxmlformats.org/officeDocument/2006/relationships/tableStyles" Target="/ppt/tableStyles.xml" Id="R81920ae5bde74c34" /><Relationship Type="http://schemas.openxmlformats.org/officeDocument/2006/relationships/slide" Target="/ppt/slides/slide1.xml" Id="R88d82155e54b481e" /><Relationship Type="http://schemas.openxmlformats.org/officeDocument/2006/relationships/slide" Target="/ppt/slides/slide2.xml" Id="R0f6b3efc65c24881" /><Relationship Type="http://schemas.openxmlformats.org/officeDocument/2006/relationships/slide" Target="/ppt/slides/slide3.xml" Id="R6c443b28bdf44ccf" /><Relationship Type="http://schemas.openxmlformats.org/officeDocument/2006/relationships/slide" Target="/ppt/slides/slide4.xml" Id="Rd564dc7e4a384ced" /><Relationship Type="http://schemas.openxmlformats.org/officeDocument/2006/relationships/slide" Target="/ppt/slides/slide5.xml" Id="R534a8c0b97bd4707" /><Relationship Type="http://schemas.openxmlformats.org/officeDocument/2006/relationships/slide" Target="/ppt/slides/slide6.xml" Id="R1a1e49be8c774af0" /><Relationship Type="http://schemas.openxmlformats.org/officeDocument/2006/relationships/slide" Target="/ppt/slides/slide7.xml" Id="R9cf30f1584fc41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55472c8c764f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5957378bbd4d1e" /><Relationship Type="http://schemas.openxmlformats.org/officeDocument/2006/relationships/notesMaster" Target="/ppt/notesMasters/notesMaster1.xml" Id="R7d364e3198bb42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5278d74f6f4bac" /><Relationship Type="http://schemas.openxmlformats.org/officeDocument/2006/relationships/notesMaster" Target="/ppt/notesMasters/notesMaster1.xml" Id="R0594722bad284b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7ecd7f0b564c81" /><Relationship Type="http://schemas.openxmlformats.org/officeDocument/2006/relationships/notesMaster" Target="/ppt/notesMasters/notesMaster1.xml" Id="Rb3a1c49454f34b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f50196765c433c" /><Relationship Type="http://schemas.openxmlformats.org/officeDocument/2006/relationships/notesMaster" Target="/ppt/notesMasters/notesMaster1.xml" Id="R377377b35bdd42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ac147c25554ef8" /><Relationship Type="http://schemas.openxmlformats.org/officeDocument/2006/relationships/notesMaster" Target="/ppt/notesMasters/notesMaster1.xml" Id="R74442e6a1cf347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75afe07a284442" /><Relationship Type="http://schemas.openxmlformats.org/officeDocument/2006/relationships/notesMaster" Target="/ppt/notesMasters/notesMaster1.xml" Id="Rfc860934373143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f03943e54a4ab0" /><Relationship Type="http://schemas.openxmlformats.org/officeDocument/2006/relationships/notesMaster" Target="/ppt/notesMasters/notesMaster1.xml" Id="R8db88dac97b443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535d74be04e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21642af4b341e9" /><Relationship Type="http://schemas.openxmlformats.org/officeDocument/2006/relationships/slideLayout" Target="/ppt/slideLayouts/slideLayout1.xml" Id="Rb1687c10696f4f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687c10696f4f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8bb239da14993" /><Relationship Type="http://schemas.openxmlformats.org/officeDocument/2006/relationships/image" Target="/ppt/media/image.png" Id="Rbdc209ae5e204a95" /><Relationship Type="http://schemas.openxmlformats.org/officeDocument/2006/relationships/notesSlide" Target="/ppt/notesSlides/notesSlide1.xml" Id="R7c8ae6aa92d843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4a3bc86944909" /><Relationship Type="http://schemas.openxmlformats.org/officeDocument/2006/relationships/notesSlide" Target="/ppt/notesSlides/notesSlide2.xml" Id="R25ebc15d186b43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f19917f7e4453" /><Relationship Type="http://schemas.openxmlformats.org/officeDocument/2006/relationships/image" Target="/ppt/media/image2.png" Id="R74b64291b94e40d8" /><Relationship Type="http://schemas.openxmlformats.org/officeDocument/2006/relationships/notesSlide" Target="/ppt/notesSlides/notesSlide3.xml" Id="R52503cbefae440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b887980e34c58" /><Relationship Type="http://schemas.openxmlformats.org/officeDocument/2006/relationships/image" Target="/ppt/media/image3.png" Id="Ra0cdce1dd2fc4a28" /><Relationship Type="http://schemas.openxmlformats.org/officeDocument/2006/relationships/notesSlide" Target="/ppt/notesSlides/notesSlide4.xml" Id="R3cc2042e829b42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5a991d0b14d68" /><Relationship Type="http://schemas.openxmlformats.org/officeDocument/2006/relationships/notesSlide" Target="/ppt/notesSlides/notesSlide5.xml" Id="R14d43fbc7e4f4a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297e5fa554776" /><Relationship Type="http://schemas.openxmlformats.org/officeDocument/2006/relationships/image" Target="/ppt/media/image4.png" Id="R0439f7810595447f" /><Relationship Type="http://schemas.openxmlformats.org/officeDocument/2006/relationships/notesSlide" Target="/ppt/notesSlides/notesSlide6.xml" Id="R3ecee9c6373941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af65eb8ca4ca5" /><Relationship Type="http://schemas.openxmlformats.org/officeDocument/2006/relationships/notesSlide" Target="/ppt/notesSlides/notesSlide7.xml" Id="Rd9f699aebad940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5B9760-AFC3-4DE0-BEC6-607E42E6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"/>
            <a:ext cx="319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CA7DF-17CB-4C73-AE4F-E6081442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95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13226-840E-422A-9ECB-1ADAB6CE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04875"/>
            <a:ext cx="1476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D0B5D-EEE1-4377-ABD0-F012A52A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904875"/>
            <a:ext cx="9525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832A3-4E55-4A33-A595-6D20C154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86500"/>
            <a:ext cx="2714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C9581-0E1F-4AD8-9988-D7E7C8C9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0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9D623-FCA0-4BAB-B98A-2A027530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AB6E7-465C-4391-9576-593431E3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05500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8748A-4512-48AA-984E-F1F1707D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66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34104-3126-4189-9A96-183F7275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876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230F0-643D-46A4-AEDD-DB929E9D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25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EB32E-C483-4E5B-BCDC-2F6D5B37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625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4D8D6-04B0-49BC-A71F-0D9AFC7A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5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F9822-4645-4AED-A6FA-8A91FB00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MAGNET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2D28C-D1DF-448A-BD08-59E1015B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磁芯损耗在线预测</a:t>
            </a:r>
          </a:p>
          <a:p xmlns:a="http://schemas.openxmlformats.org/drawingml/2006/main">
            <a:pPr algn="l">
              <a:defRPr sz="39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与多物理场分析平台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7D14F-CA47-4CD0-BE3A-3CD34335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实验数据库 × 轻量 Transformer × 电路仿真 × FEM 场后处理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85AF6-1609-4033-AEDD-10FD260D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面向磁性材料研究、磁性器件设计与教学验证的浏览器交互式工程平台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8B992-032C-41E8-A2CA-1120AB4C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0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数据查询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8DAD5-609B-4B34-B371-F5E7EB88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智能表格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3769CF-E470-4010-8E0A-365E6506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E8C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B-H预测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591E6-5BA7-4BF1-AC1B-62CD2D9B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6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64B1"/>
                </a:solidFill>
                <a:latin typeface="Microsoft YaHei"/>
                <a:ea typeface="Microsoft YaHei"/>
                <a:cs typeface="Microsoft YaHei"/>
              </a:defRPr>
            </a:pPr>
            <a:r>
              <a:t>电路仿真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EF021-C94C-4879-A5C8-AE75A84E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338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1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FEM预测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CDDCA-2B97-41DF-8131-6C25DF8C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"/>
            <a:ext cx="4171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209ae5e204a95"/>
          <a:srcRect xmlns:a="http://schemas.openxmlformats.org/drawingml/2006/main" l="19137" t="0" r="191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742950"/>
            <a:ext cx="3752850" cy="26860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6B629-50B4-4E6F-9CF7-B76F24D9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38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从真实实验数据出发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6E05DD-078D-41B8-89C1-D28D9810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100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覆盖材料、频率、温度、磁通密度、波形与直流偏置等多维工况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B4E510-65E8-4ED5-96BE-B9D2316E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05375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28E511-DB8D-44BE-BDFA-E055055A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911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在线查询 → AI预测 → 仿真耦合 → 空间损耗分布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8DABE2-B079-49D0-A172-2C172E15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Princeton MagNet 数据与模型体系的本地化集成与扩展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9CECEB-FE6A-48C6-AAA6-75C58266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096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7385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C74614-6335-4293-AE3F-ACED0D74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"/>
            <a:ext cx="319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AF426-9AD6-448F-8C4E-668770AE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95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8A35D-3219-42E0-879A-5735D3DD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04875"/>
            <a:ext cx="1476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3304A-862F-41D4-8EA0-1D90F7C9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904875"/>
            <a:ext cx="9525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3A637-E1AF-45DE-8269-38511E30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86500"/>
            <a:ext cx="2714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DF5AF-88CD-413E-933F-D2A81487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0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49279-60ED-4C20-A7A0-89F55AA3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D11E8-6F48-4A67-8E54-310BE8A4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05500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7A5EF-6ED9-4BE3-80A5-B5F0480F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66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B307A-DFF1-42EF-B714-5B8498D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876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19BF9-1E68-49BC-9EE6-45BDBE9B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25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BE7C0-1C12-42E5-A448-389B45AB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625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EB77A-3AC3-4073-BD92-51B6CB1D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5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CE509-E6BD-401D-A74E-0522FAB2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5954F-24E6-4171-B5FE-5A8F2988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PLATFORM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38824-A5C1-4E7D-8927-76A17542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一套平台贯通数据查询、AI预测与两级仿真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4EEDC-2278-49CB-9C7E-3DA48484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浏览器端统一输入工况，后端按任务调用实验数据库、波形模型或网格级代理模型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A9BA6-33F2-472C-9749-2E2CFBBF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2095500" cy="1028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2476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选择材料与波形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A020C-C884-4B46-9359-FAFE70E2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66950"/>
            <a:ext cx="2095500" cy="1028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F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2476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输入频率、温度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磁通与偏置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DE7E2-2FFD-4AE4-B07D-45BBAF99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66950"/>
            <a:ext cx="2095500" cy="1028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64B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2476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加载材料模型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3C3CC-2CF5-4D64-918B-A4BD8DD8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2095500" cy="1028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B6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2476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 B-H 与损耗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C45E5-FF33-4F90-B56C-7CD5F714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66950"/>
            <a:ext cx="2095500" cy="1028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82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2476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导出曲线/明细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D7FBA-A90E-4FFA-B509-6C45146B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19D106-1D49-4F1B-9A11-2F7BF98F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数据基础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48EAC-38F6-415A-9732-EF56B84E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HDF5 实验数据库</a:t>
            </a:r>
          </a:p>
          <a:p xmlns:a="http://schemas.openxmlformats.org/drawingml/2006/main">
            <a:pPr algn="l">
              <a:defRPr sz="11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材料参数与训练范围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6B231-AF3D-4FC6-93B4-E23030F8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528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CAE6F1-FEE3-483B-B07E-6B75D009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86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AI代理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FEDAA-1667-4736-A17A-37925AAC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10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B(t)→H(t)</a:t>
            </a:r>
          </a:p>
          <a:p xmlns:a="http://schemas.openxmlformats.org/drawingml/2006/main">
            <a:pPr algn="l">
              <a:defRPr sz="11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B-H 回线积分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5E7F22-848E-424C-B2F3-D7A4AD57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862E6E-E677-446D-8132-1F277D4F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电路耦合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00C1BC-AF63-4A7E-9C05-DDC5D164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0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Buck / Boost</a:t>
            </a:r>
          </a:p>
          <a:p xmlns:a="http://schemas.openxmlformats.org/drawingml/2006/main">
            <a:pPr algn="l">
              <a:defRPr sz="11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Flyback / DAB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098EA2-EB68-4A82-9CA7-C872DE63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528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FC47FB-EAE8-44FE-AD74-32F0DA27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空间分析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AC0A0A-312C-4AED-8A74-88A16C0A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0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FLD 网格解析</a:t>
            </a:r>
          </a:p>
          <a:p xmlns:a="http://schemas.openxmlformats.org/drawingml/2006/main">
            <a:pPr algn="l">
              <a:defRPr sz="11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逐单元 Pcv 预测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A23C9E-EEBD-4EB2-94C6-4141D439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201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53A47E-81DC-428E-A0E5-9D572711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54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9A186D-8023-4A8D-99EA-6459D08B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主数据库材料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8966B9-EF27-49DC-B4E3-6B5C7BB4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054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64B1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E6B1E2-A9D2-4197-83BE-F7F1EF37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7435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电路拓扑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106104-55F9-4156-AA37-7197D639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054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DCA090-9F04-4D4D-AD48-C2F2F034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435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代理模型链路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2F9C50-BFAF-45C7-9A16-9C46680F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05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15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4AEE70-F859-49FA-ABB5-08CFD86A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43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FEM可选材料模型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FBF92B-682B-4D15-AC79-A30F4189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391150"/>
            <a:ext cx="1123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预测结果支持图表展示</a:t>
            </a:r>
          </a:p>
          <a:p xmlns:a="http://schemas.openxmlformats.org/drawingml/2006/main">
            <a:pPr algn="ctr">
              <a:defRPr sz="975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与 CSV 下载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2B6FE1-4B47-47D0-ADE1-D1509833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44F76F-4C2C-4A94-B428-7DE49F9E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MAGNET PLATFORM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7B8C29-B867-48D5-A0AB-F15D8315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43675"/>
            <a:ext cx="533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7248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98861-3F46-4100-9D13-275EDD43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61EC6-6141-43EE-82B2-2016CFAA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DATA EXPLORATION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687DA-8BDD-4D1B-A5AA-6EC6B967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实验数据库让材料与工况筛选可视、可查、可下载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36CD1-1353-4152-AF8D-7F0919C0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数据库页面用于检索真实测量点；智能表格页面用于在给定工况下快速预测损耗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51A74-B002-4F03-8C06-6E42D4DE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7535E-015C-414C-BE23-F3763FC9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多维测量空间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64291b94e40d8"/>
          <a:stretch xmlns:a="http://schemas.openxmlformats.org/drawingml/2006/main"/>
        </p:blipFill>
        <p:spPr>
          <a:xfrm xmlns:a="http://schemas.openxmlformats.org/drawingml/2006/main">
            <a:off x="666750" y="2535146"/>
            <a:ext cx="3581400" cy="228300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7228F-F43E-48D8-9F74-84076178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频率 × 磁通密度 × Hdc × 温度 × 波形占空比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E0C08-7075-495D-8BA1-C3333290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FE8A6-54D2-4A73-B7A8-5F2B1F4E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62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交互筛选面板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8BE40-8E3A-46BA-BDC4-0936DC25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765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材料：N87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A1221-4495-4AB5-B5DD-53EA5966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波形：三角波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CA8CB-DDFB-4957-9FB2-14648141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289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频率范围  25–500 kHz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682B6-2909-4165-A1EE-5DFA121D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528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41377-439A-4734-BB0B-7FED5F97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24225"/>
            <a:ext cx="933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29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EFE88-2B0C-449E-A8DF-57A6D063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385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磁通密度  10–350 mT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28590-4C2A-45A4-BEAC-A38C3032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624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1DA33-916A-4A0C-8A71-D132D1F5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33825"/>
            <a:ext cx="1314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E36F4-FA6E-4C1E-A964-AD180513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波形预览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7A4B8-9CE3-4445-83B1-427247B8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05375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5B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A8F98-9609-464B-8814-B4B80B1B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81397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BF897-89CD-4464-ABE2-BFD0DCCE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350" y="5031105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0ACB7-7F24-4EC9-8E4C-98DB5F80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350" y="4980813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D78EE-2069-44DF-BA9F-233C4759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0521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17882-AE4B-4863-BD9C-4A29F17B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350" y="4880229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BA239-3689-473C-9EDC-CFB4F7C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350" y="4829937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114CAE-D894-41B3-B04A-053E0722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79645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14BAC8-BEBD-4DE3-81BA-DA221082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350" y="4729353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CA64CE-D47A-461B-9A87-5F798701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4679061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1A3B35-7EB4-4226-A684-0771C231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79061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45A8DB-A65B-4398-BE31-6B89C8AB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350" y="4729353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B727A1-7498-43A7-A6A5-3F36D558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4779645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775C6D-FBBF-4EC5-9004-12EBF687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29937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FE05E4-E702-4D08-BA0D-7847933E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7350" y="4880229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A8C45D-40FC-42E3-8ACA-346F3901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50" y="4930521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E4BB31-899A-4DE5-8305-38EBF878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80813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F5D946-3F95-42EE-B16F-3DCB736E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350" y="5031105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AB4529-F086-4955-9F7B-05BE9F45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350" y="5081397"/>
            <a:ext cx="12700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1C00D5-FBFC-49CF-8704-30DB526E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9590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筛选并查询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FE16DB-040B-42F9-B7A1-FB9FFB6C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4861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0F0A86-3B1B-4276-BC79-DAAC6AAB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输出与下载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C26A09-1D2C-497B-90EC-B717D7CA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95850"/>
            <a:ext cx="2647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74193B-E883-4435-8F61-00FB7F8C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9525" cy="224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EC76A9-F630-451C-8771-D82FED88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29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0ABE36-B6C0-4AA4-AB3B-79CFD5E3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64B1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3CA3EF-F21D-45E3-A873-0F87D767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00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29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7232F7-20EC-4D69-823C-1F507B44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38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3497EC-BFC5-47B0-81FA-ECD7D6CA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64B1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7A7EE6-D15C-4538-B27A-D0BF1558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FEFE40-B4F5-4BCC-9C05-3CCF67A5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6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290666-6DA1-4B72-A85E-C77A1D11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0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29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BD1C0F-579F-48F5-830C-800B4AA8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482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频率 / 磁通密度 / 损耗散点图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6F0958-6E0D-46ED-AD29-6B6EFFF9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91150"/>
            <a:ext cx="1790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B6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下载 CSV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39E49E-B913-4121-9CB6-DC84A937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6EA302-DDB4-4B6E-8670-FCAC9C4C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MAGNET PLATFORM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A08EC5-0A42-47BC-BE40-3A19F78E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43675"/>
            <a:ext cx="533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7968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B24101-6BA1-4806-B26D-045FCB09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90846-1C80-44F9-A236-CA880B99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AI SURROGATE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120D6-1A07-45BF-9695-8D99B163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轻量 Transformer 由 B 波形重建 H 波形并计算 B-H 损耗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AC818-9A2C-44D0-A040-92DB7134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模型不是直接输出一个静态系数，而是学习材料在频率、温度与偏置条件下的动态磁滞响应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E789B-BBD5-445E-9641-24ABDAB0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23241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93D6E-4D90-4FB9-98FF-324705E2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4B27A-6F34-4081-BB90-CE39B9F7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809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5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D4A7A-4091-474C-9817-B43A7CC0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2954"/>
            <a:ext cx="100542" cy="1078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2D205-E7F9-4C4E-B179-0BCBA23B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92" y="2788071"/>
            <a:ext cx="100542" cy="948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A1C18-533A-4AC3-A3B6-6CE35CC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33" y="2717647"/>
            <a:ext cx="100542" cy="70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357A8-B1CD-4A94-B76C-95644D7B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75" y="2680175"/>
            <a:ext cx="100542" cy="3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56F73-6A1D-4B96-BF88-A16E4850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117" y="2680175"/>
            <a:ext cx="10054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C53ED-D708-4C91-87A5-D6B48156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658" y="2680175"/>
            <a:ext cx="100542" cy="3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D3E6C-AD22-425C-922E-0CE27379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2717647"/>
            <a:ext cx="100542" cy="70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2FB9D-1795-4375-8104-379D2537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742" y="2788071"/>
            <a:ext cx="100542" cy="948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32B83-04B7-4842-936F-FCF8E8BF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83" y="2882954"/>
            <a:ext cx="100542" cy="1078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01CDE-11C7-4184-8EA2-A83E2DA8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990850"/>
            <a:ext cx="100542" cy="1078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EB3FE-6A9E-456F-9E6F-104D8E0A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367" y="3098746"/>
            <a:ext cx="100542" cy="948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5BAD3-0984-49FA-8CC9-AF27CBEC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908" y="3193629"/>
            <a:ext cx="100542" cy="70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2BD10-032E-4363-A590-01683960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450" y="3264053"/>
            <a:ext cx="100542" cy="3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E262B-A664-47F7-A932-856359A9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992" y="3301525"/>
            <a:ext cx="10054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A2A7A-9FAB-4535-9C54-A178CD3C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533" y="3264053"/>
            <a:ext cx="100542" cy="3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3FBF7-255C-42E4-8AE9-6C20E498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075" y="3193629"/>
            <a:ext cx="100542" cy="70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CADAF-12FB-482C-9C06-492F99A1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617" y="3098746"/>
            <a:ext cx="100542" cy="948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4F6AB-3FE5-4891-B723-16DF75F4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158" y="2990850"/>
            <a:ext cx="100542" cy="1078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FDF0D-D5BC-48F5-AD2D-876F1E5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B(t) 单周期波形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5F6F57-6CDB-49E0-960D-22EB1FF8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8B3DD-ECE6-48D4-8F23-DCB1DFF6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7F0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20627B-C5D2-44AC-BFAC-951C5DFC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57650"/>
            <a:ext cx="723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E8C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Hdc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85D4CD-34A4-4015-A439-FF52CD15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标准波形或用户上传 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DCB364-AD06-46DA-967B-8951806C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45720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B6BFD8-9820-40EF-822D-10508BB5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38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Encoder–Decoder Transformer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dce1dd2fc4a28"/>
          <a:stretch xmlns:a="http://schemas.openxmlformats.org/drawingml/2006/main"/>
        </p:blipFill>
        <p:spPr>
          <a:xfrm xmlns:a="http://schemas.openxmlformats.org/drawingml/2006/main">
            <a:off x="4242238" y="2457450"/>
            <a:ext cx="2374024" cy="22288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904138-4BC2-4C6E-940E-2E8B498E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577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24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66D574-E914-4360-943D-AF92677E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435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d_model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A90527-D183-4F92-885B-EFAA1F74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00909D-ECE9-4771-BAEB-DD0CB64E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435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Heads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E6D17D-CD7C-4D1F-8FAA-D95A4920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1 / 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403D66-53C7-473B-A68D-EEAEF1B0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435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Enc/Dec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C144D9-1FD7-48E3-829B-28C47CE2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128点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A1A6DF-5C10-4081-AB90-9BFCEAAE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435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序列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6289DC-A243-45C6-ABB8-2DBBF799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85950"/>
            <a:ext cx="36576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E74754-1269-4CDD-8A1C-AD14185A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5873AB-F347-415D-BD71-034BB2B4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87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5B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00B118-7D32-400D-B837-2B640DD6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54009"/>
            <a:ext cx="159808" cy="84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4E995D-AA40-4E86-817A-042C457C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758" y="2679753"/>
            <a:ext cx="159808" cy="742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47FB31-8023-4F3B-9CF2-54077496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567" y="2624639"/>
            <a:ext cx="159808" cy="551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2ABFD2-25D2-448E-B932-F584B660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375" y="2595313"/>
            <a:ext cx="159808" cy="293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845BA3-BADA-4434-B908-36F651FE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183" y="2595313"/>
            <a:ext cx="15980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6B4526-D71A-40B9-BF9A-CDFEEB3D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992" y="2595313"/>
            <a:ext cx="159808" cy="293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7C7F08-8412-4441-AB51-36D3AA59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2624639"/>
            <a:ext cx="159808" cy="551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880B2C-6712-4AAB-9EDB-792C9227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608" y="2679753"/>
            <a:ext cx="159808" cy="742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4E8AEA-48FF-4153-A720-B9DA9323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417" y="2754009"/>
            <a:ext cx="159808" cy="84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F09647-2819-4B72-A803-1FECAF70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838450"/>
            <a:ext cx="159808" cy="84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3CBD5F-3932-4869-9E8F-AA86C838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033" y="2922891"/>
            <a:ext cx="159808" cy="742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122664-A2FB-4FC7-ABEB-A5B2055A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842" y="2997147"/>
            <a:ext cx="159808" cy="551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41B518-C7B9-4655-9BC8-2485A96C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650" y="3052261"/>
            <a:ext cx="159808" cy="293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AE1D7E-938D-4E67-B9B6-E18F52A3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458" y="3081587"/>
            <a:ext cx="15980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6A7883-F2C9-4EAD-AC20-D61D925E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267" y="3052261"/>
            <a:ext cx="159808" cy="293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9358B6-862B-4893-AB60-CFE5ED78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0075" y="2997147"/>
            <a:ext cx="159808" cy="551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6FC74D-C57A-4580-A140-D935D4CA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883" y="2922891"/>
            <a:ext cx="159808" cy="742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856FBF-84BE-4BE3-8BA6-C531855B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9692" y="2838450"/>
            <a:ext cx="159808" cy="84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8399AE-B659-40EA-BA6E-DCEA2E65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623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预测 H(t)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7AB9D09-E2BD-49B6-BB83-428E870A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81550"/>
            <a:ext cx="2314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8C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C10210-DF83-4A7A-A69F-7DD92A0D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38550"/>
            <a:ext cx="9525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8C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89CCA2-502E-4FE7-A355-9058CF55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286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64B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6FE2BB-F2FD-41B0-94EC-8BFD847F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48100"/>
            <a:ext cx="34290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64B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3E2808-399C-4135-921E-E2272330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48100"/>
            <a:ext cx="3048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64B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E94C51-BAF9-4379-BEAD-EE960EBF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00500"/>
            <a:ext cx="3048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64B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AFAC8A1-F6A0-4981-8862-4AE17F64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476750"/>
            <a:ext cx="26670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64B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6EB5140-878D-47B9-A339-ECDC7381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914900"/>
            <a:ext cx="3048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64B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6B6B1D-5661-4E80-95B8-FC0F7BC6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686300"/>
            <a:ext cx="2476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64B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89D4CA-A3AD-4011-906C-9483053F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514850"/>
            <a:ext cx="24765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829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1FEBDE7-5E6C-41D5-A9EC-CAA133F5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781550"/>
            <a:ext cx="3048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829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9142645-3295-429A-9036-49359798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62450"/>
            <a:ext cx="26670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829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99B0756-3FF0-4740-A258-649587E1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05250"/>
            <a:ext cx="30480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829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54F1C21-80E4-473D-BE26-29954B29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30480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829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EC2E24E-B6A3-4EBA-9421-3A0DA8ED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71900"/>
            <a:ext cx="34290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829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87C4DE8-0C5B-4EE8-8FBA-A4B5AF2B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22860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829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C7D97CF-996F-425B-81CC-8425783C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43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B-H 回线积分 → 体积损耗 Pv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7F7C221-CA20-471C-AD6C-9479E104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36087D4-115C-460D-BFA8-395B7A4D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MAGNET PLATFORM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E7FA67B-A005-4B68-A2AF-A4B34431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43675"/>
            <a:ext cx="533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1400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BF04F9-B573-4B3A-A6B4-96BCD99A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48BE8-3B84-4BB1-BBF7-56FB89F1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CIRCUIT CO-SIMULATION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B2D61-B4BD-4DA5-9108-5567FB27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电路仿真先生成真实激励波形，再由代理模型估算磁芯损耗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0096E-AFD0-4D3D-B8FC-5B2C66AE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电路侧可选 PLECS 或 Python 简化模型；AI 负责把仿真波形映射为磁滞回线与损耗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AF29C-25A3-4DC1-9D1C-E83263CC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支持拓扑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5594E-71E0-4950-A9EA-46E45028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81175"/>
            <a:ext cx="120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Buck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5BBE2-1401-4BAE-ABD0-6A9A6282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81175"/>
            <a:ext cx="120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Boost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A7DA2-3B81-4C4D-9D9A-E39E5BA5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81175"/>
            <a:ext cx="120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Flyback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962CA-DFCC-4976-B1B4-F3043B01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81175"/>
            <a:ext cx="120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B6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E9303-282A-4A29-912A-0E92A0F9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47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02692-3C2A-4129-8644-A515EECB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81175"/>
            <a:ext cx="1066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E8C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PLECS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AF019-7718-4032-B1F8-90635482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81175"/>
            <a:ext cx="1066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0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Python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C8A28-B6E0-440C-8FB5-DC02CCEC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2171700" cy="990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2476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输入电路参数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与磁芯几何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A54C0-F88B-4213-9037-A730CFA0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43200"/>
            <a:ext cx="2171700" cy="990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98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2476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运行稳态仿真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获得 B/H 波形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D0C01-A7E5-4336-B11C-6D376C4D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43200"/>
            <a:ext cx="2171700" cy="990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64B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2476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调用材料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Transformer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3F7C4-409D-429F-BFE1-B0241C6E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43200"/>
            <a:ext cx="2171700" cy="990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B6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2476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回线积分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计算磁芯损耗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F8828-9E1F-4A66-8F5E-08AAD303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43200"/>
            <a:ext cx="1943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82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78E44-9DC9-4CFD-85B9-87C0EDDB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38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067D7-B777-49A8-A222-E359155C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861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7471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2.37 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B83B6-ED42-4D51-BE63-AAF7138F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480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总磁芯损耗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5479E-A0A5-4937-9C59-61A52424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111823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31A97-4D8A-4544-9848-3C2DD160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仿真结果不仅给出一个数值，还保留工程可解释性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CC857-9A38-40AF-A61D-C9C84B30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5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BB05F1-5AA8-440A-A718-9C76B4BE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4297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4B854D-C1F5-4C2A-8A06-6FC704F2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42" y="5374005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44D988-1510-47B2-A185-F8CBEB4A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633" y="5323713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1565F-DE78-4EFA-B942-88D5C6F8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925" y="5273421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31A533-2825-4D2D-AE98-D56A7CFB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17" y="5223129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4228A-4931-4861-BEE0-A6D16828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08" y="5172837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83B16C-8E69-4C6A-989F-254FEB90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800" y="5122545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C20B52-A41D-48FA-9B7D-CCBCD20A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092" y="5072253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181D46-FA05-46B5-89AD-8242317C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383" y="5021961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AD146F-E6F3-4E0C-B537-6810E8C3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021961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5A076D-FBB8-4E54-8642-1448DFC4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967" y="5072253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BB94DE-360B-41A4-906C-268FB235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258" y="5122545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2D6D98-45E6-4D58-8C03-A76D4BEC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50" y="5172837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01CD02-B9E3-4181-B638-8555F13D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842" y="5223129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4AE1DB-2C98-4D24-9E73-45FBB05A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133" y="5273421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3FBC4A-1009-4A1D-8EB5-9EB780A1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425" y="5323713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B65CB0-1A61-4768-A288-553F3BCE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717" y="5374005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BC3CF4-07C7-4483-8EF6-ACD163E3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008" y="5424297"/>
            <a:ext cx="132292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D64B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086C9E-0D58-4435-B0B7-C7F085CF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673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磁通波形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643F86-8DD1-4E55-A78A-CC02E709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86400"/>
            <a:ext cx="1600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9C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09D732-A881-47DB-B59C-F1942B3B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62500"/>
            <a:ext cx="95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9C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0A116C-E4FF-4063-8B10-D36808A8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22860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0663E4-0B28-4E31-A485-440FF14A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57750"/>
            <a:ext cx="2476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DBA3C6-6386-4901-AC39-518591AF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2476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1FFB5F-41A1-4DB0-B143-DF01D94B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29200"/>
            <a:ext cx="22860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4D01BB-387F-4B99-9FFB-9598EB9E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91150"/>
            <a:ext cx="26670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A82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3A15BD-070B-447C-9DD8-F7BA245F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76800"/>
            <a:ext cx="22860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52BC31-2553-428D-B182-AC3AB412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76800"/>
            <a:ext cx="2476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CA8E74-78FA-4701-BB87-E4360515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2476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DBA462-82D8-4958-A1CF-75DA6C5F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00650"/>
            <a:ext cx="22860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560250-1EAE-4294-83F7-30010F05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67350"/>
            <a:ext cx="2667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262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8FA983-5535-4BAF-9009-931AD8DB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B-H 回线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EF69C4-C618-4B78-BCC3-63DE463C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同时输出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6F8064-A68D-430A-89A2-E8EC010C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48250"/>
            <a:ext cx="1257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偏置 Hdc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D8D283-2D4C-4D4F-A2A6-0B6E8166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1257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磁通幅值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660849-146D-47FF-96E8-441DBDC1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48250"/>
            <a:ext cx="1257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体积损耗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A13BC4-F534-4824-9D06-434CDFF7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10200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磁通幅值过小/过大时自动提示预测风险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09CD38-4C2A-4812-AB0C-4D5CD656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FF5F7F-25FF-407D-A9C8-08AA332C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MAGNET PLATFORM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131ECE-C352-43C7-9205-F7276F2A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43675"/>
            <a:ext cx="533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068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F020FB-8A1A-4729-BC02-FB65D308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2B1CA-7DE2-42F3-B287-E72DD8E3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FEM SURROGATE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8ADCF-CABF-4FE0-9B43-FE1FF77F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FEM 模块对 FLD 场数据执行网格级 AI 损耗预测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43E7F-362F-46A7-BE93-3296A113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线上不实时求解 Maxwell：用户上传已导出的场数据，平台完成解析、波形对齐、代理预测与三维结果重建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97239-24BF-441A-A04F-F0570E91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24765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B8353-1C38-4E46-B5D9-8E2C032B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1  数据输入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C58CB-1198-499B-A5EF-34CF7E65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上传 fld.zip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9FCD9-6E5F-4AFB-BB3E-C4CF91A9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0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可选 Hdc.fld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AFEF1-3C98-498E-A804-37A0BCC5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频率 / 温度 / Hdc</a:t>
            </a:r>
          </a:p>
          <a:p xmlns:a="http://schemas.openxmlformats.org/drawingml/2006/main">
            <a:pPr algn="ctr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波形类型 / 材料 / 设计名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831E5-5FFA-42D9-BB63-10265DDA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支持本地上传或服务器预设数据包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ADAF6-AE97-4E60-AB17-155A97D9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28800"/>
            <a:ext cx="31432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F0A3E-A10A-4776-89F2-24905C75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64B1"/>
                </a:solidFill>
                <a:latin typeface="Microsoft YaHei"/>
                <a:ea typeface="Microsoft YaHei"/>
                <a:cs typeface="Microsoft YaHei"/>
              </a:defRPr>
            </a:pPr>
            <a:r>
              <a:t>2  网格处理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5D78B-E3AE-4044-A361-75F6EA60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495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BA1C8-FA8D-4DF3-AB56-A25E7C75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622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按时间步读取 .fld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EDD95-CF14-42D0-AEDA-0802DB70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95600"/>
            <a:ext cx="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64B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E8915-543F-42AA-8453-AC4338F8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495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99999-C085-47D1-97E5-D2F7E073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提取四面体单元 B(t)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76F4F-828F-41AB-9DAD-71F5B75D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48050"/>
            <a:ext cx="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64B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70C69-12AF-4900-B0AD-291B3B15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2495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AB8AE-2B5E-45ED-BCBD-4CA8085A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67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计算单元体积与 Bm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61277-57EF-4F20-B550-97C7900A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00500"/>
            <a:ext cx="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64B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27F63-C2B9-41F9-968A-A41522B4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495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8DB91-9DD9-4548-AD46-E2FEDBA0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195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统一插值为 1024 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3393E-76DD-4A5B-B28E-3DC1D2D6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52950"/>
            <a:ext cx="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64B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D41BE8-75ED-420C-972A-ABF3E948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24400"/>
            <a:ext cx="2495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C5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612BB-BBB6-4629-8E7C-4FA2E02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720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对齐温度 / 频率 / Hdc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7B0333-C263-4C0F-92DF-5316BA6E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23622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F77FD5-AFCD-4850-B0CE-55A49660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3  Transformer–FFT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9f7810595447f"/>
          <a:stretch xmlns:a="http://schemas.openxmlformats.org/drawingml/2006/main"/>
        </p:blipFill>
        <p:spPr>
          <a:xfrm xmlns:a="http://schemas.openxmlformats.org/drawingml/2006/main">
            <a:off x="6897305" y="2457450"/>
            <a:ext cx="1712091" cy="31242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D40CCA-AEC4-467E-A007-7D085BCB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28800"/>
            <a:ext cx="2495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BD7B3C-10E6-4AEC-A94E-11FFF14F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0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4  空间结果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F623E8-C68C-4F63-A915-3450F04D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EC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9BB29E-553A-4DFB-B202-6E03AB75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867900" y="26098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EC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66247D-D7F7-4B0C-84AC-79832714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098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BC9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AA7452-CE5C-482E-AE58-67C477B4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553700" y="26098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BC9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CD11DE-66FB-42D8-87AA-3F74A882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6098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9D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D392C3-4946-4C41-A933-E3A00E5D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525000" y="29527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EC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95FFA4-01D0-40E0-9BB2-53565542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527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BC9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8764DB-6B3A-4A27-A048-D3A4BA38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210800" y="29527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BC9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D177E7-ABF6-4CD3-A13E-F373F959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527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9D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E71C6D-0146-453F-9F16-7835F1CB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896600" y="29527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9D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03C2AA-9A0D-46C8-9B31-992EA4FD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956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BC9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24D8D9-4F67-4F61-BE47-E1BABE5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867900" y="32956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BC9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E95A24-60EF-4726-8E32-37DB539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2956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9D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68143C-3815-4DBC-B1AB-CDB53B85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553700" y="32956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9D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7688D-495F-485C-8C63-D866DB92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2956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C3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CC7FA3-5223-410D-ADD5-3791B3BD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525000" y="36385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BC9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FEA1AA-14F5-4578-8D25-AE347B12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385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9D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15CEA0-42BA-41B3-ACFC-F716949D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210800" y="36385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9D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84031F-8EDF-4149-9094-5395CE3C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6385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C3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0D6727-5B08-475A-9551-3DC926C1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896600" y="36385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C3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73C9DF-71EB-44C4-91F9-24996AB5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9D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7BE8BB-D32B-4575-A42E-D1D4009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867900" y="39814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9D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86592E-8970-46E1-B269-F2826EBE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814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C3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7D6AF3-5E39-462E-B142-D74E80CD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553700" y="39814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C3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55D280-4266-46D2-831A-923F5F6E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9814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6B4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135CFC-DA24-4032-8DEA-813C1AEC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可交互三维网格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031431-5A54-4695-8FAB-F06F7ED0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149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Bm 分布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D954D0-1794-414A-A38C-16870B5C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149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E8C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Pcv 分布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29FE87-1CBC-4657-8454-871B4C53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102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汇总总损耗并下载逐单元 CSV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22A8F0-5B97-43D1-B9ED-FEE31A35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98370A-4DA7-4DD1-A8B9-1B901B1D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MAGNET PLATFORM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A9667A-A0AE-4C76-B969-36D57754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43675"/>
            <a:ext cx="533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97497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2EFC24-EC30-46DA-8205-F83CB886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从数据到设计，形成可复用的磁芯损耗分析闭环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AB2C7-F0B4-4AA5-8B12-65389A68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同一套材料数据与代理模型，服务科研、教学和工程设计三个场景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E975E-A539-4372-8801-2974DA5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9800"/>
            <a:ext cx="28956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34280-AB46-4AA6-A0D0-AB7E7A78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907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MagNet</a:t>
            </a:r>
          </a:p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在线平台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D7B15-D5B7-44F7-894C-FA29B3A5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433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DE7F4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 · 模型 · 仿真 · 可视化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32194-E231-4F53-9330-83BE466D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C5"/>
          </a:solidFill>
          <a:ln xmlns:a="http://schemas.openxmlformats.org/drawingml/2006/main" w="14288">
            <a:solidFill>
              <a:srgbClr val="D72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56AB7-9E70-4102-8672-D5B1AE47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5567E-DEA3-40E7-AFA4-34C1A8EA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科研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BEDAE-1867-4888-9781-39A84E5C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查询实验数据</a:t>
            </a:r>
          </a:p>
          <a:p xmlns:a="http://schemas.openxmlformats.org/drawingml/2006/main">
            <a:pPr algn="l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验证新模型</a:t>
            </a:r>
          </a:p>
          <a:p xmlns:a="http://schemas.openxmlformats.org/drawingml/2006/main">
            <a:pPr algn="l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导出 B-H 曲线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04799-610F-414F-A442-EB832DBC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DA"/>
          </a:solidFill>
          <a:ln xmlns:a="http://schemas.openxmlformats.org/drawingml/2006/main" w="14288">
            <a:solidFill>
              <a:srgbClr val="2A82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CC595-9592-4E1F-A277-4A1B1FDE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29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983F9-6CD4-497B-A455-9ED2955E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教学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7D269-1E15-4368-AC56-374CD87C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调整波形与工况</a:t>
            </a:r>
          </a:p>
          <a:p xmlns:a="http://schemas.openxmlformats.org/drawingml/2006/main">
            <a:pPr algn="l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观察磁滞回线</a:t>
            </a:r>
          </a:p>
          <a:p xmlns:a="http://schemas.openxmlformats.org/drawingml/2006/main">
            <a:pPr algn="l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理解损耗机理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64321-DA29-4B99-B05E-3876F23C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2"/>
          </a:solidFill>
          <a:ln xmlns:a="http://schemas.openxmlformats.org/drawingml/2006/main" w="14288">
            <a:solidFill>
              <a:srgbClr val="3D64B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A5ACD-B674-4830-B3CE-2E74259E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4B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CE453-E8B4-45E3-8150-D31B9D46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64B1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4EF80-50AF-44B0-B4B4-B66B5219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比较材料</a:t>
            </a:r>
          </a:p>
          <a:p xmlns:a="http://schemas.openxmlformats.org/drawingml/2006/main">
            <a:pPr algn="l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耦合电路波形</a:t>
            </a:r>
          </a:p>
          <a:p xmlns:a="http://schemas.openxmlformats.org/drawingml/2006/main">
            <a:pPr algn="l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评估空间损耗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9AC9C-D669-4FEC-BCA4-6BACF8B9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1"/>
          </a:solidFill>
          <a:ln xmlns:a="http://schemas.openxmlformats.org/drawingml/2006/main" w="14288">
            <a:solidFill>
              <a:srgbClr val="173B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58BDA-AFB3-4AA4-9542-CA34E9E0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82208-7EC1-46B5-B11A-C22A795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053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B589F-DBFE-445E-BF19-C51D90A8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054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新增材料模型</a:t>
            </a:r>
          </a:p>
          <a:p xmlns:a="http://schemas.openxmlformats.org/drawingml/2006/main">
            <a:pPr algn="l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接入仿真数据</a:t>
            </a:r>
          </a:p>
          <a:p xmlns:a="http://schemas.openxmlformats.org/drawingml/2006/main">
            <a:pPr algn="l">
              <a:defRPr sz="1275" b="0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形成团队工具链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481B9-AB0F-43CC-8B4F-A2AD31B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1028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26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97ED0-0081-4BAA-AA04-DA23221C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1028700" cy="137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829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DCCAEB-3265-4364-BA44-0062C431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52750"/>
            <a:ext cx="1028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64B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4584E-21A4-4DC1-B98C-7B9D4BA2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05250"/>
            <a:ext cx="1028700" cy="137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B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A10105-8EA8-423B-8E39-57A67B35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6CC8A3-E1D5-4FB9-BBE2-F4EF30CD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33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平台核心优势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74BA6-B836-405C-9797-92293DC6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197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浏览器交互 · 参数化输入 · 训练范围提示 · 图表输出 · CSV下载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7B557A-19C4-42DE-8F98-3A68086E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0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829A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真实数据驱动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0BE81B-5C14-4C5A-A86A-4455ADBE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3887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64B1"/>
                </a:solidFill>
                <a:latin typeface="Microsoft YaHei"/>
                <a:ea typeface="Microsoft YaHei"/>
                <a:cs typeface="Microsoft YaHei"/>
              </a:defRPr>
            </a:pPr>
            <a:r>
              <a:t>轻量代理模型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B9A1DB-73A1-4E3F-ADE6-6DAA28FD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23887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E8C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262E"/>
                </a:solidFill>
                <a:latin typeface="Microsoft YaHei"/>
                <a:ea typeface="Microsoft YaHei"/>
                <a:cs typeface="Microsoft YaHei"/>
              </a:defRPr>
            </a:pPr>
            <a:r>
              <a:t>电路/场协同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953F1A-8CDE-4CD3-810E-1A449E1A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23887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E5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B68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结果可解释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D227F0-6640-4632-9F35-7BB85E8D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238875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22B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流程可扩展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36174D-E537-4F9E-954E-02428180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2935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9443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2026-06-14T15:10:57.0540000Z</dcterms:created>
  <dcterms:modified xsi:type="dcterms:W3CDTF">2026-06-14T15:10:57.0540000Z</dcterms:modified>
</coreProperties>
</file>